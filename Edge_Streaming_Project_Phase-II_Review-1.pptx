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71" r:id="rId3"/>
    <p:sldId id="257" r:id="rId4"/>
    <p:sldId id="258" r:id="rId5"/>
    <p:sldId id="259" r:id="rId6"/>
    <p:sldId id="260" r:id="rId7"/>
    <p:sldId id="261" r:id="rId8"/>
    <p:sldId id="262" r:id="rId9"/>
    <p:sldId id="273" r:id="rId24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2" r:id="rId17"/>
    <p:sldId id="270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57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46725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757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48395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22741-6AF8-4C26-AF63-095BA40B2BCC}" type="datetime1">
              <a:rPr lang="en-US" smtClean="0"/>
              <a:t>17-Aug-26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C9FC4-55A9-4655-AD1A-FF4A1AC4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38515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Diagram1" Type="http://schemas.openxmlformats.org/officeDocument/2006/relationships/image" Target="../media/diagram_usecase.png"/><Relationship Id="rIdDiagram2" Type="http://schemas.openxmlformats.org/officeDocument/2006/relationships/image" Target="../media/diagram_class.png"/><Relationship Id="rIdDiagram3" Type="http://schemas.openxmlformats.org/officeDocument/2006/relationships/image" Target="../media/diagram_activity.png"/><Relationship Id="rIdDiagram4" Type="http://schemas.openxmlformats.org/officeDocument/2006/relationships/image" Target="../media/diagram_state.png"/><Relationship Id="rIdDiagram5" Type="http://schemas.openxmlformats.org/officeDocument/2006/relationships/image" Target="../media/diagram_dfd.png"/><Relationship Id="rIdDiagram6" Type="http://schemas.openxmlformats.org/officeDocument/2006/relationships/image" Target="../media/diagram_er.png"/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vtu.ac.in - The Statesman"/>
          <p:cNvSpPr>
            <a:spLocks noChangeAspect="1" noChangeArrowheads="1"/>
          </p:cNvSpPr>
          <p:nvPr/>
        </p:nvSpPr>
        <p:spPr bwMode="auto">
          <a:xfrm>
            <a:off x="783163" y="1041093"/>
            <a:ext cx="2286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5" name="AutoShape 4" descr="vtu.ac.in - The Statesman"/>
          <p:cNvSpPr>
            <a:spLocks noChangeAspect="1" noChangeArrowheads="1"/>
          </p:cNvSpPr>
          <p:nvPr/>
        </p:nvSpPr>
        <p:spPr bwMode="auto">
          <a:xfrm>
            <a:off x="6335567" y="1074412"/>
            <a:ext cx="2286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53"/>
            <a:ext cx="2347175" cy="1484538"/>
          </a:xfrm>
          <a:prstGeom prst="rect">
            <a:avLst/>
          </a:prstGeom>
        </p:spPr>
      </p:pic>
      <p:sp>
        <p:nvSpPr>
          <p:cNvPr id="7" name="AutoShape 6" descr="The Oxford College of Engineering ..."/>
          <p:cNvSpPr>
            <a:spLocks noChangeAspect="1" noChangeArrowheads="1"/>
          </p:cNvSpPr>
          <p:nvPr/>
        </p:nvSpPr>
        <p:spPr bwMode="auto">
          <a:xfrm>
            <a:off x="116681" y="-108347"/>
            <a:ext cx="2286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8" name="AutoShape 8" descr="The Oxford College of Engineering ..."/>
          <p:cNvSpPr>
            <a:spLocks noChangeAspect="1" noChangeArrowheads="1"/>
          </p:cNvSpPr>
          <p:nvPr/>
        </p:nvSpPr>
        <p:spPr bwMode="auto">
          <a:xfrm>
            <a:off x="230981" y="5953"/>
            <a:ext cx="2286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9060" y="256160"/>
            <a:ext cx="1174805" cy="1174805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844899" y="256160"/>
            <a:ext cx="5646548" cy="10849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250" b="1" dirty="0">
                <a:solidFill>
                  <a:srgbClr val="002060"/>
                </a:solidFill>
              </a:rPr>
              <a:t>The Oxford College of Engineering</a:t>
            </a:r>
          </a:p>
          <a:p>
            <a:endParaRPr lang="en-US" sz="2250" b="1" dirty="0">
              <a:solidFill>
                <a:srgbClr val="002060"/>
              </a:solidFill>
            </a:endParaRPr>
          </a:p>
          <a:p>
            <a:pPr algn="ctr"/>
            <a:r>
              <a:rPr lang="en-US" sz="1950" b="1" dirty="0">
                <a:solidFill>
                  <a:srgbClr val="002060"/>
                </a:solidFill>
              </a:rPr>
              <a:t>Department of Computer Science and Engineering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75674" y="1520955"/>
            <a:ext cx="5646548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250" b="1" dirty="0">
                <a:solidFill>
                  <a:srgbClr val="FF0000"/>
                </a:solidFill>
              </a:rPr>
              <a:t>BCS786 - Project Phase –II /</a:t>
            </a:r>
            <a:r>
              <a:rPr lang="en-US" sz="2100" b="1" dirty="0">
                <a:solidFill>
                  <a:srgbClr val="FF0000"/>
                </a:solidFill>
              </a:rPr>
              <a:t>First Review</a:t>
            </a:r>
            <a:endParaRPr lang="en-US" b="1" dirty="0">
              <a:solidFill>
                <a:srgbClr val="FF0000"/>
              </a:solidFill>
            </a:endParaRPr>
          </a:p>
          <a:p>
            <a:pPr algn="ctr"/>
            <a:endParaRPr lang="en-US" sz="1950" b="1" dirty="0">
              <a:solidFill>
                <a:srgbClr val="FF0000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775674" y="2266376"/>
            <a:ext cx="5646548" cy="7000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/>
            <a:r>
              <a:rPr lang="en-US" sz="1700" b="1" dirty="0"/>
              <a:t>Edge-Based Video Streaming Optimization using VNF Orchestration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0" y="3217616"/>
            <a:ext cx="1400000" cy="90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350" b="1" dirty="0"/>
              <a:t>Batch-2</a:t>
            </a:r>
          </a:p>
          <a:p>
            <a:pPr algn="ctr"/>
            <a:r>
              <a:rPr lang="en-US" sz="1200" b="1" dirty="0"/>
              <a:t>1. Smitha</a:t>
            </a:r>
          </a:p>
          <a:p>
            <a:pPr algn="ctr"/>
            <a:r>
              <a:rPr lang="en-US" sz="1200" b="1" dirty="0"/>
              <a:t>2. Spoorthi</a:t>
            </a:r>
          </a:p>
          <a:p>
            <a:pPr algn="ctr"/>
            <a:r>
              <a:rPr lang="en-US" sz="1200" b="1" dirty="0"/>
              <a:t>3. Trisha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3625" y="3360893"/>
            <a:ext cx="916276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350" b="1" dirty="0"/>
              <a:t>Guided by</a:t>
            </a:r>
          </a:p>
          <a:p>
            <a:pPr algn="ctr"/>
            <a:r>
              <a:rPr lang="en-US" sz="1200" dirty="0"/>
              <a:t>Prof Thendral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C0597B4D-E392-4DC9-B8BE-D549D84779C3}"/>
              </a:ext>
            </a:extLst>
          </p:cNvPr>
          <p:cNvSpPr/>
          <p:nvPr/>
        </p:nvSpPr>
        <p:spPr>
          <a:xfrm>
            <a:off x="7599529" y="4506954"/>
            <a:ext cx="449162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50" b="1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30669932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1D6FA5"/>
          </a:solidFill>
          <a:ln w="12700">
            <a:solidFill>
              <a:srgbClr val="1D6FA5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11480" y="4663440"/>
            <a:ext cx="873252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85800" y="256032"/>
            <a:ext cx="82296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Edge-Based Video Streaming Optimization</a:t>
            </a:r>
            <a:endParaRPr lang="en-US" sz="2500" dirty="0"/>
          </a:p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using NFV-Driven Mobile Edge</a:t>
            </a:r>
            <a:endParaRPr lang="en-US" sz="2500" dirty="0"/>
          </a:p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Computing (MEC) Orchestration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85800" y="2505456"/>
            <a:ext cx="2542032" cy="548640"/>
          </a:xfrm>
          <a:prstGeom prst="roundRect">
            <a:avLst>
              <a:gd name="adj" fmla="val 13333"/>
            </a:avLst>
          </a:prstGeom>
          <a:solidFill>
            <a:srgbClr val="0B4F6C"/>
          </a:solidFill>
          <a:ln w="12700">
            <a:solidFill>
              <a:srgbClr val="0B4F6C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85800" y="2532888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MEC Edge Nodes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807208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t>In-Memory LRU Segment Caching (Mode A &amp; B)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29000" y="2505456"/>
            <a:ext cx="2542032" cy="548640"/>
          </a:xfrm>
          <a:prstGeom prst="roundRect">
            <a:avLst>
              <a:gd name="adj" fmla="val 13333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429000" y="2532888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NFV Orchestration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29000" y="2807208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t>Dynamic Registry &amp; 5s Active RTT Probing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72200" y="2505456"/>
            <a:ext cx="2542032" cy="548640"/>
          </a:xfrm>
          <a:prstGeom prst="roundRect">
            <a:avLst>
              <a:gd name="adj" fmla="val 13333"/>
            </a:avLst>
          </a:prstGeom>
          <a:solidFill>
            <a:srgbClr val="146356"/>
          </a:solidFill>
          <a:ln w="12700">
            <a:solidFill>
              <a:srgbClr val="146356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172200" y="2532888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Context-Aware DASH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72200" y="2807208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t>Shannon Entropy Context-Aware Routing (H)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85800" y="3246120"/>
            <a:ext cx="2542032" cy="329184"/>
          </a:xfrm>
          <a:prstGeom prst="roundRect">
            <a:avLst>
              <a:gd name="adj" fmla="val 19444"/>
            </a:avLst>
          </a:prstGeom>
          <a:solidFill>
            <a:srgbClr val="0B1220"/>
          </a:solidFill>
          <a:ln w="12700">
            <a:solidFill>
              <a:srgbClr val="1D6FA5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85800" y="3246120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Edge Computing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29000" y="3246120"/>
            <a:ext cx="2542032" cy="329184"/>
          </a:xfrm>
          <a:prstGeom prst="roundRect">
            <a:avLst>
              <a:gd name="adj" fmla="val 19444"/>
            </a:avLst>
          </a:prstGeom>
          <a:solidFill>
            <a:srgbClr val="0B1220"/>
          </a:solidFill>
          <a:ln w="12700">
            <a:solidFill>
              <a:srgbClr val="1D6FA5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429000" y="3246120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Function Virtualization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72200" y="3246120"/>
            <a:ext cx="2542032" cy="329184"/>
          </a:xfrm>
          <a:prstGeom prst="roundRect">
            <a:avLst>
              <a:gd name="adj" fmla="val 19444"/>
            </a:avLst>
          </a:prstGeom>
          <a:solidFill>
            <a:srgbClr val="0B1220"/>
          </a:solidFill>
          <a:ln w="12700">
            <a:solidFill>
              <a:srgbClr val="1D6FA5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172200" y="3246120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Streaming (DASH)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5800" y="3685032"/>
            <a:ext cx="2542032" cy="329184"/>
          </a:xfrm>
          <a:prstGeom prst="roundRect">
            <a:avLst>
              <a:gd name="adj" fmla="val 19444"/>
            </a:avLst>
          </a:prstGeom>
          <a:solidFill>
            <a:srgbClr val="0B1220"/>
          </a:solidFill>
          <a:ln w="12700">
            <a:solidFill>
              <a:srgbClr val="1D6FA5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85800" y="3685032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Reduction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429000" y="3685032"/>
            <a:ext cx="2542032" cy="329184"/>
          </a:xfrm>
          <a:prstGeom prst="roundRect">
            <a:avLst>
              <a:gd name="adj" fmla="val 19444"/>
            </a:avLst>
          </a:prstGeom>
          <a:solidFill>
            <a:srgbClr val="0B1220"/>
          </a:solidFill>
          <a:ln w="12700">
            <a:solidFill>
              <a:srgbClr val="1D6FA5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3429000" y="3685032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Context-Awareness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72200" y="3685032"/>
            <a:ext cx="2542032" cy="329184"/>
          </a:xfrm>
          <a:prstGeom prst="roundRect">
            <a:avLst>
              <a:gd name="adj" fmla="val 19444"/>
            </a:avLst>
          </a:prstGeom>
          <a:solidFill>
            <a:srgbClr val="0B1220"/>
          </a:solidFill>
          <a:ln w="12700">
            <a:solidFill>
              <a:srgbClr val="1D6FA5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172200" y="3685032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t>Sub-200ms Autonomous Failover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5800" y="4754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Oxford College of Engineering                                                                               Project Phase – II                                                                                    Review – 1                Batch-2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2009123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1D6FA5"/>
          </a:solidFill>
          <a:ln w="12700">
            <a:solidFill>
              <a:srgbClr val="1D6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 of Contents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822960"/>
            <a:ext cx="7772400" cy="36576"/>
          </a:xfrm>
          <a:prstGeom prst="rect">
            <a:avLst/>
          </a:prstGeom>
          <a:solidFill>
            <a:srgbClr val="1D6FA5"/>
          </a:solidFill>
          <a:ln w="12700">
            <a:solidFill>
              <a:srgbClr val="1D6FA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124712"/>
            <a:ext cx="338328" cy="338328"/>
          </a:xfrm>
          <a:prstGeom prst="ellipse">
            <a:avLst/>
          </a:prstGeom>
          <a:solidFill>
            <a:srgbClr val="1D6FA5"/>
          </a:solidFill>
          <a:ln w="12700">
            <a:solidFill>
              <a:srgbClr val="1D6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124712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43000" y="10515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&amp; Overview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1664208"/>
            <a:ext cx="338328" cy="338328"/>
          </a:xfrm>
          <a:prstGeom prst="ellipse">
            <a:avLst/>
          </a:prstGeom>
          <a:solidFill>
            <a:srgbClr val="1D6FA5"/>
          </a:solidFill>
          <a:ln w="12700">
            <a:solidFill>
              <a:srgbClr val="1D6F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664208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43000" y="159105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5800" y="2203704"/>
            <a:ext cx="338328" cy="338328"/>
          </a:xfrm>
          <a:prstGeom prst="ellipse">
            <a:avLst/>
          </a:prstGeom>
          <a:solidFill>
            <a:srgbClr val="1D6FA5"/>
          </a:solidFill>
          <a:ln w="12700">
            <a:solidFill>
              <a:srgbClr val="1D6F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203704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43000" y="213055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85800" y="2743200"/>
            <a:ext cx="338328" cy="338328"/>
          </a:xfrm>
          <a:prstGeom prst="ellipse">
            <a:avLst/>
          </a:prstGeom>
          <a:solidFill>
            <a:srgbClr val="1D6FA5"/>
          </a:solidFill>
          <a:ln w="12700">
            <a:solidFill>
              <a:srgbClr val="1D6F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743200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43000" y="267004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85800" y="3282696"/>
            <a:ext cx="338328" cy="338328"/>
          </a:xfrm>
          <a:prstGeom prst="ellipse">
            <a:avLst/>
          </a:prstGeom>
          <a:solidFill>
            <a:srgbClr val="1D6FA5"/>
          </a:solidFill>
          <a:ln w="12700">
            <a:solidFill>
              <a:srgbClr val="1D6F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282696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43000" y="3209544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85800" y="3822192"/>
            <a:ext cx="338328" cy="338328"/>
          </a:xfrm>
          <a:prstGeom prst="ellipse">
            <a:avLst/>
          </a:prstGeom>
          <a:solidFill>
            <a:srgbClr val="1D6FA5"/>
          </a:solidFill>
          <a:ln w="12700">
            <a:solidFill>
              <a:srgbClr val="1D6F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822192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43000" y="37490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Diagrams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85800" y="4361688"/>
            <a:ext cx="338328" cy="338328"/>
          </a:xfrm>
          <a:prstGeom prst="ellipse">
            <a:avLst/>
          </a:prstGeom>
          <a:solidFill>
            <a:srgbClr val="1D6FA5"/>
          </a:solidFill>
          <a:ln w="12700">
            <a:solidFill>
              <a:srgbClr val="1D6FA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4361688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43000" y="428853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&amp; Predictive Formulation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983480" y="1124712"/>
            <a:ext cx="338328" cy="338328"/>
          </a:xfrm>
          <a:prstGeom prst="ellipse">
            <a:avLst/>
          </a:prstGeom>
          <a:solidFill>
            <a:srgbClr val="1D6FA5"/>
          </a:solidFill>
          <a:ln w="12700">
            <a:solidFill>
              <a:srgbClr val="1D6FA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1124712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40680" y="10515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Prefetching — Algo 1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983480" y="1664208"/>
            <a:ext cx="338328" cy="338328"/>
          </a:xfrm>
          <a:prstGeom prst="ellipse">
            <a:avLst/>
          </a:prstGeom>
          <a:solidFill>
            <a:srgbClr val="1D6FA5"/>
          </a:solidFill>
          <a:ln w="12700">
            <a:solidFill>
              <a:srgbClr val="1D6FA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83480" y="1664208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40680" y="159105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System Components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983480" y="2203704"/>
            <a:ext cx="338328" cy="338328"/>
          </a:xfrm>
          <a:prstGeom prst="ellipse">
            <a:avLst/>
          </a:prstGeom>
          <a:solidFill>
            <a:srgbClr val="1D6FA5"/>
          </a:solidFill>
          <a:ln w="12700">
            <a:solidFill>
              <a:srgbClr val="1D6FA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83480" y="2203704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40680" y="213055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Setup &amp; Scenarios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983480" y="2743200"/>
            <a:ext cx="338328" cy="338328"/>
          </a:xfrm>
          <a:prstGeom prst="ellipse">
            <a:avLst/>
          </a:prstGeom>
          <a:solidFill>
            <a:srgbClr val="1D6FA5"/>
          </a:solidFill>
          <a:ln w="12700">
            <a:solidFill>
              <a:srgbClr val="1D6FA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83480" y="2743200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440680" y="267004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Performance — Table 1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4983480" y="3282696"/>
            <a:ext cx="338328" cy="338328"/>
          </a:xfrm>
          <a:prstGeom prst="ellipse">
            <a:avLst/>
          </a:prstGeom>
          <a:solidFill>
            <a:srgbClr val="1D6FA5"/>
          </a:solidFill>
          <a:ln w="12700">
            <a:solidFill>
              <a:srgbClr val="1D6FA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83480" y="3282696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440680" y="3209544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Scenario Results — Table 2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4983480" y="3822192"/>
            <a:ext cx="338328" cy="338328"/>
          </a:xfrm>
          <a:prstGeom prst="ellipse">
            <a:avLst/>
          </a:prstGeom>
          <a:solidFill>
            <a:srgbClr val="1D6FA5"/>
          </a:solidFill>
          <a:ln w="12700">
            <a:solidFill>
              <a:srgbClr val="1D6FA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83480" y="3822192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440680" y="37490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&amp; Key Insights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4983480" y="4361688"/>
            <a:ext cx="338328" cy="338328"/>
          </a:xfrm>
          <a:prstGeom prst="ellipse">
            <a:avLst/>
          </a:prstGeom>
          <a:solidFill>
            <a:srgbClr val="1D6FA5"/>
          </a:solidFill>
          <a:ln w="12700">
            <a:solidFill>
              <a:srgbClr val="1D6FA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83480" y="4361688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440680" y="428853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References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C1020"/>
          </a:solidFill>
          <a:ln w="12700">
            <a:solidFill>
              <a:srgbClr val="0C102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91440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Abstract &amp; Overview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D6FA5"/>
          </a:solidFill>
          <a:ln w="12700">
            <a:solidFill>
              <a:srgbClr val="1D6FA5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320040" y="105156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t>A full-scale distributed MEC/NFV system deployed on Vercel and Render with standalone PC &amp; Android edge agents — achieving ~93% latency reduction (5ms vs 150ms baseline), Zero-Stall SLA playback, and sub-200ms autonomous link failover.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" y="1801368"/>
            <a:ext cx="4315968" cy="12252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09728" y="1801368"/>
            <a:ext cx="54864" cy="1225296"/>
          </a:xfrm>
          <a:prstGeom prst="rect">
            <a:avLst/>
          </a:prstGeom>
          <a:solidFill>
            <a:srgbClr val="0B4F6C"/>
          </a:solidFill>
          <a:ln w="12700">
            <a:solidFill>
              <a:srgbClr val="0B4F6C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274320" y="1883664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+ Edge Node Pipeline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2203704"/>
            <a:ext cx="4069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t>Origin Cloud Server (Render) serves 4K/1080p DASH chunks; dynamic MEC edge VNFs (Render, PC Docker, Android Termux) cache segments close to users.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736592" y="1801368"/>
            <a:ext cx="4315968" cy="12252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736592" y="1801368"/>
            <a:ext cx="54864" cy="1225296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901184" y="1883664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Prediction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01184" y="2203704"/>
            <a:ext cx="4069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t>Shannon Information Entropy (H) over a sliding window k=3..10 calculates link stability and weights real-time ABR and edge migration decisions.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109728" y="3172968"/>
            <a:ext cx="4315968" cy="12252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109728" y="3172968"/>
            <a:ext cx="54864" cy="1225296"/>
          </a:xfrm>
          <a:prstGeom prst="rect">
            <a:avLst/>
          </a:prstGeom>
          <a:solidFill>
            <a:srgbClr val="146356"/>
          </a:solidFill>
          <a:ln w="12700">
            <a:solidFill>
              <a:srgbClr val="146356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274320" y="3255264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6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(VNFM Role)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74320" y="3575304"/>
            <a:ext cx="4069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t>VNFM Controller (Render) performs 5s active RTT timing, 10s heartbeat sweeps, and instant link failover via /api/orchestrator/best-edge.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736592" y="3172968"/>
            <a:ext cx="4315968" cy="12252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4736592" y="3172968"/>
            <a:ext cx="54864" cy="1225296"/>
          </a:xfrm>
          <a:prstGeom prst="rect">
            <a:avLst/>
          </a:prstGeom>
          <a:solidFill>
            <a:srgbClr val="146356"/>
          </a:solidFill>
          <a:ln w="12700">
            <a:solidFill>
              <a:srgbClr val="146356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901184" y="3255264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6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01184" y="3575304"/>
            <a:ext cx="4069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t>Empirical Results: ~93% latency reduction · Zero playback stalls · Hybrid Vercel + Render + Tailscale Funnel cloud deployment.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C1020"/>
          </a:solidFill>
          <a:ln w="12700">
            <a:solidFill>
              <a:srgbClr val="0C102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91440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D6FA5"/>
          </a:solidFill>
          <a:ln w="12700">
            <a:solidFill>
              <a:srgbClr val="1D6FA5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320040" y="1024128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i="1" dirty="0">
                <a:solidFill>
                  <a:srgbClr val="1D6F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Bringing Video Delivery Closer to the User via MEC + NFV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20040" y="1572768"/>
            <a:ext cx="320040" cy="320040"/>
          </a:xfrm>
          <a:prstGeom prst="ellipse">
            <a:avLst/>
          </a:prstGeom>
          <a:solidFill>
            <a:srgbClr val="0B4F6C"/>
          </a:solidFill>
          <a:ln w="12700">
            <a:solidFill>
              <a:srgbClr val="0B4F6C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20040" y="15727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1490472"/>
            <a:ext cx="8001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Ultra-high-quality (4K/8K) video streaming is becoming the multimedia standard, but current internet delivery suffers from long-distance network latency, bandwidth-fluctuation stalling, and limited mobile device resources.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0040" y="2286000"/>
            <a:ext cx="320040" cy="320040"/>
          </a:xfrm>
          <a:prstGeom prst="ellipse">
            <a:avLst/>
          </a:prstGeom>
          <a:solidFill>
            <a:srgbClr val="0B4F6C"/>
          </a:solidFill>
          <a:ln w="12700">
            <a:solidFill>
              <a:srgbClr val="0B4F6C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20040" y="2286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2203704"/>
            <a:ext cx="8001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Adaptive Streaming over HTTP (DASH) adjusts video quality to bandwidth, but the client alone deciding each segment reacts only after conditions change — a structural limitation this project addresses.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20040" y="2999232"/>
            <a:ext cx="320040" cy="320040"/>
          </a:xfrm>
          <a:prstGeom prst="ellipse">
            <a:avLst/>
          </a:prstGeom>
          <a:solidFill>
            <a:srgbClr val="0B4F6C"/>
          </a:solidFill>
          <a:ln w="12700">
            <a:solidFill>
              <a:srgbClr val="0B4F6C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20040" y="29992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2916936"/>
            <a:ext cx="8001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Edge Computing (MEC) moves computation and caching to servers near the user, while Network Function Virtualization (NFV) lets these edge functions be deployed and managed flexibly, without dedicated hardware.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20040" y="3712464"/>
            <a:ext cx="320040" cy="320040"/>
          </a:xfrm>
          <a:prstGeom prst="ellipse">
            <a:avLst/>
          </a:prstGeom>
          <a:solidFill>
            <a:srgbClr val="0B4F6C"/>
          </a:solidFill>
          <a:ln w="12700">
            <a:solidFill>
              <a:srgbClr val="0B4F6C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20040" y="371246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7240" y="3630168"/>
            <a:ext cx="8001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t>This project implements a full-stack context-aware MEC/NFV system with dynamic self-registering edge nodes, Shannon entropy routing, and autonomous failover.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20040" y="4425696"/>
            <a:ext cx="320040" cy="320040"/>
          </a:xfrm>
          <a:prstGeom prst="ellipse">
            <a:avLst/>
          </a:prstGeom>
          <a:solidFill>
            <a:srgbClr val="0B4F6C"/>
          </a:solidFill>
          <a:ln w="12700">
            <a:solidFill>
              <a:srgbClr val="0B4F6C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320040" y="442569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77240" y="4343400"/>
            <a:ext cx="8001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t>Deployed across a production hybrid cloud: React UI on Vercel, VNFM &amp; Origin on Render, with portable Dockerized &amp; Termux edge agents for any PC or phone.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822960"/>
            <a:ext cx="77724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950976"/>
            <a:ext cx="7772400" cy="868680"/>
          </a:xfrm>
          <a:prstGeom prst="rect">
            <a:avLst/>
          </a:prstGeom>
          <a:solidFill>
            <a:srgbClr val="0C102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987552"/>
            <a:ext cx="7406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Centralized, core-network-driven video delivery cannot simultaneously guarantee low latency, bandwidth efficiency, and playback stability for 4K/8K streaming — client-only adaptive logic reacts to network changes only after they happen.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85800" y="1984248"/>
            <a:ext cx="7772400" cy="822960"/>
          </a:xfrm>
          <a:prstGeom prst="rect">
            <a:avLst/>
          </a:prstGeom>
          <a:solidFill>
            <a:srgbClr val="040810"/>
          </a:solidFill>
          <a:ln w="12700">
            <a:solidFill>
              <a:srgbClr val="0C102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984248"/>
            <a:ext cx="54864" cy="8229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03911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Core-Network Latency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2368296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 travels the full long-distance path to the origin server, adding latency on every segment even when the same content was just served to a nearby user.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" y="2935224"/>
            <a:ext cx="7772400" cy="822960"/>
          </a:xfrm>
          <a:prstGeom prst="rect">
            <a:avLst/>
          </a:prstGeom>
          <a:solidFill>
            <a:srgbClr val="040810"/>
          </a:solidFill>
          <a:ln w="12700">
            <a:solidFill>
              <a:srgbClr val="0C102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2935224"/>
            <a:ext cx="54864" cy="8229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99008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Reactive, Client-Only ABR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3319272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DASH clients pick the next segment only after buffer/bandwidth has already changed — there is no component anticipating what the client will need next.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" y="3886200"/>
            <a:ext cx="7772400" cy="822960"/>
          </a:xfrm>
          <a:prstGeom prst="rect">
            <a:avLst/>
          </a:prstGeom>
          <a:solidFill>
            <a:srgbClr val="040810"/>
          </a:solidFill>
          <a:ln w="12700">
            <a:solidFill>
              <a:srgbClr val="0C102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3886200"/>
            <a:ext cx="54864" cy="8229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9410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Fault-Tolerant Routing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4270248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origin server is a single point of failure — there is no mechanism to detect a degraded/failed edge server and reroute clients to a healthier one in real time.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C1020"/>
          </a:solidFill>
          <a:ln w="12700">
            <a:solidFill>
              <a:srgbClr val="0C1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Literature Review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D6FA5"/>
          </a:solidFill>
          <a:ln w="12700">
            <a:solidFill>
              <a:srgbClr val="1D6FA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" y="1005840"/>
            <a:ext cx="431596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" y="1005840"/>
            <a:ext cx="4315968" cy="402336"/>
          </a:xfrm>
          <a:prstGeom prst="rect">
            <a:avLst/>
          </a:prstGeom>
          <a:solidFill>
            <a:srgbClr val="0B4F6C"/>
          </a:solidFill>
          <a:ln w="12700">
            <a:solidFill>
              <a:srgbClr val="0B4F6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" y="1005840"/>
            <a:ext cx="4133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 &amp; Edge Computing Foundations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82880" y="1463040"/>
            <a:ext cx="41330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Liang: Mobile Edge Computing — foundational MEC architecture and use cases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82880" y="1787652"/>
            <a:ext cx="41330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Jiang et al.: Survey on MEC applied to video streaming — issues and challenges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82880" y="2112264"/>
            <a:ext cx="41330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Mehrabi et al.: Device-enhanced MEC — caching and computation offload survey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82880" y="2436876"/>
            <a:ext cx="41330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Sukhmani et al.: Edge caching &amp; computing for 5G AR/VR and tactile internet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45152" y="1005840"/>
            <a:ext cx="431596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45152" y="1005840"/>
            <a:ext cx="4315968" cy="402336"/>
          </a:xfrm>
          <a:prstGeom prst="rect">
            <a:avLst/>
          </a:prstGeom>
          <a:solidFill>
            <a:srgbClr val="8A4B00"/>
          </a:solidFill>
          <a:ln w="12700">
            <a:solidFill>
              <a:srgbClr val="8A4B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005840"/>
            <a:ext cx="4133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NFV &amp; VNF Orchestration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36592" y="1463040"/>
            <a:ext cx="41330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Hawilo et al.: NFV — state of the art, challenges, and vEPC implementation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36592" y="1787652"/>
            <a:ext cx="41330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Eramo et al.: Service function chain routing &amp; VNF instance migration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736592" y="2112264"/>
            <a:ext cx="41330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Attaoui et al.: VNF and container placement — recent advances &amp; trends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1440" y="2971800"/>
            <a:ext cx="431596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" y="2971800"/>
            <a:ext cx="4315968" cy="402336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1168" y="2971800"/>
            <a:ext cx="4133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Streaming (DASH &amp; QoE)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82880" y="3429000"/>
            <a:ext cx="41330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Kua, Armitage &amp; Branch: Survey of rate adaptation techniques for DASH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82880" y="3753612"/>
            <a:ext cx="41330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Seufert et al.: Survey on QoE of HTTP adaptive streaming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82880" y="4078224"/>
            <a:ext cx="41330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Zhao et al.: User QoE improvement for DASH (MPEG-DASH)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82880" y="4402836"/>
            <a:ext cx="41330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Vergados et al.: FDASH — fuzzy-based MPEG/DASH adaptation algorithm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82880" y="4727448"/>
            <a:ext cx="41330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Toosi et al.: Management &amp; orchestration of network slices in 5G/Fog/Edge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45152" y="2971800"/>
            <a:ext cx="431596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45152" y="2971800"/>
            <a:ext cx="4315968" cy="402336"/>
          </a:xfrm>
          <a:prstGeom prst="rect">
            <a:avLst/>
          </a:prstGeom>
          <a:solidFill>
            <a:srgbClr val="146356"/>
          </a:solidFill>
          <a:ln w="12700">
            <a:solidFill>
              <a:srgbClr val="14635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2971800"/>
            <a:ext cx="4133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Prediction &amp; Edge Delivery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736592" y="3429000"/>
            <a:ext cx="41330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6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et al.: Fuzzy-based adaptive streaming reducing DASH bitrate entropy (base paper's prior work)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736592" y="3753612"/>
            <a:ext cx="41330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6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Erfanian: Optimizing QoE &amp; latency of live streaming using edge computing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736592" y="4078224"/>
            <a:ext cx="41330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6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et al.: MEC-assisted immersive VR streaming via deep reinforcement learning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C1020"/>
          </a:solidFill>
          <a:ln w="12700">
            <a:solidFill>
              <a:srgbClr val="0C102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91440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D6FA5"/>
          </a:solidFill>
          <a:ln w="12700">
            <a:solidFill>
              <a:srgbClr val="1D6FA5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320040" y="1005840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origin encoding through edge caching and prediction to orchestrated, fault-tolerant delivery — mapped directly to the paper's Core Network → VNFM → MEC Layer → UE flow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109728" y="1600200"/>
            <a:ext cx="475488" cy="475488"/>
          </a:xfrm>
          <a:prstGeom prst="ellipse">
            <a:avLst/>
          </a:prstGeom>
          <a:solidFill>
            <a:srgbClr val="0B4F6C"/>
          </a:solidFill>
          <a:ln w="12700">
            <a:solidFill>
              <a:srgbClr val="0B4F6C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9728" y="1600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94944" y="1417320"/>
            <a:ext cx="2148840" cy="822960"/>
          </a:xfrm>
          <a:prstGeom prst="rect">
            <a:avLst/>
          </a:prstGeom>
          <a:solidFill>
            <a:srgbClr val="0B4F6C"/>
          </a:solidFill>
          <a:ln w="12700">
            <a:solidFill>
              <a:srgbClr val="0B4F6C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31520" y="1417320"/>
            <a:ext cx="2075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/ Core Network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907792" y="1417320"/>
            <a:ext cx="6126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2907792" y="1417320"/>
            <a:ext cx="54864" cy="822960"/>
          </a:xfrm>
          <a:prstGeom prst="rect">
            <a:avLst/>
          </a:prstGeom>
          <a:solidFill>
            <a:srgbClr val="0B4F6C"/>
          </a:solidFill>
          <a:ln w="12700">
            <a:solidFill>
              <a:srgbClr val="0B4F6C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054096" y="1545336"/>
            <a:ext cx="5907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t>Render Cloud Web Service · 4K/1080p/720p DASH chunks · Akamai CDN proxy fallback · Core latency baseline (~150ms)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9728" y="2514600"/>
            <a:ext cx="475488" cy="475488"/>
          </a:xfrm>
          <a:prstGeom prst="ellipse">
            <a:avLst/>
          </a:prstGeom>
          <a:solidFill>
            <a:srgbClr val="0B4F6C"/>
          </a:solidFill>
          <a:ln w="12700">
            <a:solidFill>
              <a:srgbClr val="0B4F6C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09728" y="25146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94944" y="2331720"/>
            <a:ext cx="2148840" cy="822960"/>
          </a:xfrm>
          <a:prstGeom prst="rect">
            <a:avLst/>
          </a:prstGeom>
          <a:solidFill>
            <a:srgbClr val="0B4F6C"/>
          </a:solidFill>
          <a:ln w="12700">
            <a:solidFill>
              <a:srgbClr val="0B4F6C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31520" y="2331720"/>
            <a:ext cx="2075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(VNFM Role)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2907792" y="2331720"/>
            <a:ext cx="6126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2907792" y="2331720"/>
            <a:ext cx="54864" cy="822960"/>
          </a:xfrm>
          <a:prstGeom prst="rect">
            <a:avLst/>
          </a:prstGeom>
          <a:solidFill>
            <a:srgbClr val="0B4F6C"/>
          </a:solidFill>
          <a:ln w="12700">
            <a:solidFill>
              <a:srgbClr val="0B4F6C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3054096" y="2459736"/>
            <a:ext cx="5907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t>Render Web Service · Dynamic in-memory registry · 5s active RTT measurement · Shannon Entropy weighting (H) · /best-edge selection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09728" y="3429000"/>
            <a:ext cx="475488" cy="475488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9728" y="34290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94944" y="3246120"/>
            <a:ext cx="2148840" cy="8229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731520" y="3246120"/>
            <a:ext cx="2075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Node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(VNF) Layer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2907792" y="3246120"/>
            <a:ext cx="6126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2907792" y="3246120"/>
            <a:ext cx="54864" cy="8229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3054096" y="3374136"/>
            <a:ext cx="5907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t>Render Web + Standalone PC (Docker) + Android (Termux) · Mode A (Local LAN) &amp; Mode B (Public Tailscale Funnel) · In-memory LRU cache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09728" y="4343400"/>
            <a:ext cx="475488" cy="475488"/>
          </a:xfrm>
          <a:prstGeom prst="ellipse">
            <a:avLst/>
          </a:prstGeom>
          <a:solidFill>
            <a:srgbClr val="146356"/>
          </a:solidFill>
          <a:ln w="12700">
            <a:solidFill>
              <a:srgbClr val="146356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109728" y="43434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94944" y="4160520"/>
            <a:ext cx="2148840" cy="822960"/>
          </a:xfrm>
          <a:prstGeom prst="rect">
            <a:avLst/>
          </a:prstGeom>
          <a:solidFill>
            <a:srgbClr val="146356"/>
          </a:solidFill>
          <a:ln w="12700">
            <a:solidFill>
              <a:srgbClr val="146356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731520" y="4160520"/>
            <a:ext cx="2075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&amp;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Layer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2907792" y="4160520"/>
            <a:ext cx="6126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2907792" y="4160520"/>
            <a:ext cx="54864" cy="822960"/>
          </a:xfrm>
          <a:prstGeom prst="rect">
            <a:avLst/>
          </a:prstGeom>
          <a:solidFill>
            <a:srgbClr val="146356"/>
          </a:solidFill>
          <a:ln w="12700">
            <a:solidFill>
              <a:srgbClr val="146356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3054096" y="4288536"/>
            <a:ext cx="5907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t>Vercel Global Edge · React 18 + DASH.js player · Dynamic auto-scaling SVG topology map · 2×2 Publication research graphs (Dark / Paper Mode)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C1020"/>
          </a:solidFill>
          <a:ln w="12700">
            <a:solidFill>
              <a:srgbClr val="0C1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Design Diagrams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D6FA5"/>
          </a:solidFill>
          <a:ln w="12700">
            <a:solidFill>
              <a:srgbClr val="1D6F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05840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UML/DFD design set for Review Meeting-1 — Use Case, Class, Activity, State, DFD, and ER views of the edge-streaming system</a:t>
            </a:r>
            <a:endParaRPr lang="en-US" sz="1250" dirty="0"/>
          </a:p>
        </p:txBody>
      </p:sp>
      <p:pic>
        <p:nvPicPr>
          <p:cNvPr id="101" name="Diagram 1"/>
          <p:cNvPicPr>
            <a:picLocks noChangeAspect="1"/>
          </p:cNvPicPr>
          <p:nvPr/>
        </p:nvPicPr>
        <p:blipFill>
          <a:blip r:embed="rIdDiagram1"/>
          <a:stretch>
            <a:fillRect/>
          </a:stretch>
        </p:blipFill>
        <p:spPr>
          <a:xfrm>
            <a:off x="268600" y="1390000"/>
            <a:ext cx="2815600" cy="1561750"/>
          </a:xfrm>
          <a:prstGeom prst="rect">
            <a:avLst/>
          </a:prstGeom>
        </p:spPr>
      </p:pic>
      <p:sp>
        <p:nvSpPr>
          <p:cNvPr id="151" name="Caption 1"/>
          <p:cNvSpPr/>
          <p:nvPr/>
        </p:nvSpPr>
        <p:spPr>
          <a:xfrm>
            <a:off x="268600" y="2951750"/>
            <a:ext cx="2815600" cy="17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1000" b="1" dirty="0">
                <a:solidFill>
                  <a:srgbClr val="0B4F6C"/>
                </a:solidFill>
              </a:rPr>
              <a:t>Use Case Diagram</a:t>
            </a:r>
          </a:p>
        </p:txBody>
      </p:sp>
      <p:pic>
        <p:nvPicPr>
          <p:cNvPr id="102" name="Diagram 2"/>
          <p:cNvPicPr>
            <a:picLocks noChangeAspect="1"/>
          </p:cNvPicPr>
          <p:nvPr/>
        </p:nvPicPr>
        <p:blipFill>
          <a:blip r:embed="rIdDiagram2"/>
          <a:stretch>
            <a:fillRect/>
          </a:stretch>
        </p:blipFill>
        <p:spPr>
          <a:xfrm>
            <a:off x="3164200" y="1390000"/>
            <a:ext cx="2815600" cy="1561750"/>
          </a:xfrm>
          <a:prstGeom prst="rect">
            <a:avLst/>
          </a:prstGeom>
        </p:spPr>
      </p:pic>
      <p:sp>
        <p:nvSpPr>
          <p:cNvPr id="152" name="Caption 2"/>
          <p:cNvSpPr/>
          <p:nvPr/>
        </p:nvSpPr>
        <p:spPr>
          <a:xfrm>
            <a:off x="3164200" y="2951750"/>
            <a:ext cx="2815600" cy="17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1000" b="1" dirty="0">
                <a:solidFill>
                  <a:srgbClr val="0B4F6C"/>
                </a:solidFill>
              </a:rPr>
              <a:t>Class Diagram</a:t>
            </a:r>
          </a:p>
        </p:txBody>
      </p:sp>
      <p:pic>
        <p:nvPicPr>
          <p:cNvPr id="103" name="Diagram 3"/>
          <p:cNvPicPr>
            <a:picLocks noChangeAspect="1"/>
          </p:cNvPicPr>
          <p:nvPr/>
        </p:nvPicPr>
        <p:blipFill>
          <a:blip r:embed="rIdDiagram3"/>
          <a:stretch>
            <a:fillRect/>
          </a:stretch>
        </p:blipFill>
        <p:spPr>
          <a:xfrm>
            <a:off x="6059800" y="1390000"/>
            <a:ext cx="2815600" cy="1561750"/>
          </a:xfrm>
          <a:prstGeom prst="rect">
            <a:avLst/>
          </a:prstGeom>
        </p:spPr>
      </p:pic>
      <p:sp>
        <p:nvSpPr>
          <p:cNvPr id="153" name="Caption 3"/>
          <p:cNvSpPr/>
          <p:nvPr/>
        </p:nvSpPr>
        <p:spPr>
          <a:xfrm>
            <a:off x="6059800" y="2951750"/>
            <a:ext cx="2815600" cy="17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1000" b="1" dirty="0">
                <a:solidFill>
                  <a:srgbClr val="0B4F6C"/>
                </a:solidFill>
              </a:rPr>
              <a:t>Activity Diagram</a:t>
            </a:r>
          </a:p>
        </p:txBody>
      </p:sp>
      <p:pic>
        <p:nvPicPr>
          <p:cNvPr id="104" name="Diagram 4"/>
          <p:cNvPicPr>
            <a:picLocks noChangeAspect="1"/>
          </p:cNvPicPr>
          <p:nvPr/>
        </p:nvPicPr>
        <p:blipFill>
          <a:blip r:embed="rIdDiagram4"/>
          <a:stretch>
            <a:fillRect/>
          </a:stretch>
        </p:blipFill>
        <p:spPr>
          <a:xfrm>
            <a:off x="268600" y="3211750"/>
            <a:ext cx="2815600" cy="1561750"/>
          </a:xfrm>
          <a:prstGeom prst="rect">
            <a:avLst/>
          </a:prstGeom>
        </p:spPr>
      </p:pic>
      <p:sp>
        <p:nvSpPr>
          <p:cNvPr id="154" name="Caption 4"/>
          <p:cNvSpPr/>
          <p:nvPr/>
        </p:nvSpPr>
        <p:spPr>
          <a:xfrm>
            <a:off x="268600" y="4773500"/>
            <a:ext cx="2815600" cy="17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1000" b="1" dirty="0">
                <a:solidFill>
                  <a:srgbClr val="0B4F6C"/>
                </a:solidFill>
              </a:rPr>
              <a:t>State Diagram</a:t>
            </a:r>
          </a:p>
        </p:txBody>
      </p:sp>
      <p:pic>
        <p:nvPicPr>
          <p:cNvPr id="105" name="Diagram 5"/>
          <p:cNvPicPr>
            <a:picLocks noChangeAspect="1"/>
          </p:cNvPicPr>
          <p:nvPr/>
        </p:nvPicPr>
        <p:blipFill>
          <a:blip r:embed="rIdDiagram5"/>
          <a:stretch>
            <a:fillRect/>
          </a:stretch>
        </p:blipFill>
        <p:spPr>
          <a:xfrm>
            <a:off x="3164200" y="3211750"/>
            <a:ext cx="2815600" cy="1561750"/>
          </a:xfrm>
          <a:prstGeom prst="rect">
            <a:avLst/>
          </a:prstGeom>
        </p:spPr>
      </p:pic>
      <p:sp>
        <p:nvSpPr>
          <p:cNvPr id="155" name="Caption 5"/>
          <p:cNvSpPr/>
          <p:nvPr/>
        </p:nvSpPr>
        <p:spPr>
          <a:xfrm>
            <a:off x="3164200" y="4773500"/>
            <a:ext cx="2815600" cy="17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1000" b="1" dirty="0">
                <a:solidFill>
                  <a:srgbClr val="0B4F6C"/>
                </a:solidFill>
              </a:rPr>
              <a:t>Data Flow Diagram</a:t>
            </a:r>
          </a:p>
        </p:txBody>
      </p:sp>
      <p:pic>
        <p:nvPicPr>
          <p:cNvPr id="106" name="Diagram 6"/>
          <p:cNvPicPr>
            <a:picLocks noChangeAspect="1"/>
          </p:cNvPicPr>
          <p:nvPr/>
        </p:nvPicPr>
        <p:blipFill>
          <a:blip r:embed="rIdDiagram6"/>
          <a:stretch>
            <a:fillRect/>
          </a:stretch>
        </p:blipFill>
        <p:spPr>
          <a:xfrm>
            <a:off x="6059800" y="3211750"/>
            <a:ext cx="2815600" cy="1561750"/>
          </a:xfrm>
          <a:prstGeom prst="rect">
            <a:avLst/>
          </a:prstGeom>
        </p:spPr>
      </p:pic>
      <p:sp>
        <p:nvSpPr>
          <p:cNvPr id="156" name="Caption 6"/>
          <p:cNvSpPr/>
          <p:nvPr/>
        </p:nvSpPr>
        <p:spPr>
          <a:xfrm>
            <a:off x="6059800" y="4773500"/>
            <a:ext cx="2815600" cy="17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1000" b="1" dirty="0">
                <a:solidFill>
                  <a:srgbClr val="0B4F6C"/>
                </a:solidFill>
              </a:rPr>
              <a:t>ER Diagram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C1020"/>
          </a:solidFill>
          <a:ln w="12700">
            <a:solidFill>
              <a:srgbClr val="0C102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91440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Mathematical &amp; Predictive Formulation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D6FA5"/>
          </a:solidFill>
          <a:ln w="12700">
            <a:solidFill>
              <a:srgbClr val="1D6FA5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09728" y="1005840"/>
            <a:ext cx="8924544" cy="347472"/>
          </a:xfrm>
          <a:prstGeom prst="rect">
            <a:avLst/>
          </a:prstGeom>
          <a:solidFill>
            <a:srgbClr val="0B4F6C"/>
          </a:solidFill>
          <a:ln w="12700">
            <a:solidFill>
              <a:srgbClr val="0B4F6C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28600" y="1024128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(1) Shannon Information Entropy (H) Link Stability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09728" y="1353312"/>
            <a:ext cx="8924544" cy="420624"/>
          </a:xfrm>
          <a:prstGeom prst="rect">
            <a:avLst/>
          </a:prstGeom>
          <a:solidFill>
            <a:srgbClr val="EEF2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228600" y="137160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t>(1) Shannon Information Entropy (H) Link Stability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28600" y="180136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H = −Σ pᵢ log₂(pᵢ) over sliding window k = min(10, max(3, 3 + 7·H_norm))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9728" y="2029968"/>
            <a:ext cx="8924544" cy="347472"/>
          </a:xfrm>
          <a:prstGeom prst="rect">
            <a:avLst/>
          </a:prstGeom>
          <a:solidFill>
            <a:srgbClr val="0B4F6C"/>
          </a:solidFill>
          <a:ln w="12700">
            <a:solidFill>
              <a:srgbClr val="0B4F6C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28600" y="2048256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(2) Combined Dynamic Routing Score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09728" y="2377440"/>
            <a:ext cx="8924544" cy="420624"/>
          </a:xfrm>
          <a:prstGeom prst="rect">
            <a:avLst/>
          </a:prstGeom>
          <a:solidFill>
            <a:srgbClr val="EEF2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28600" y="2395728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t>(2) Combined Dynamic Routing Score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28600" y="2825496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Score = measuredLatencyMs × (1 + H × 0.4) — combines real RTT with entropy penalty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09728" y="3054096"/>
            <a:ext cx="8924544" cy="34747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228600" y="3072384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(3) In-Memory Cache Hit Ratio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109728" y="3401568"/>
            <a:ext cx="8924544" cy="420624"/>
          </a:xfrm>
          <a:prstGeom prst="rect">
            <a:avLst/>
          </a:prstGeom>
          <a:solidFill>
            <a:srgbClr val="EEF2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228600" y="3419856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t>(3) In-Memory Cache Hit Ratio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28600" y="3849624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Hit Ratio = (Cache Hits / Total Requests) × 100% — real LRU segment efficiency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9728" y="4078224"/>
            <a:ext cx="8924544" cy="347472"/>
          </a:xfrm>
          <a:prstGeom prst="rect">
            <a:avLst/>
          </a:prstGeom>
          <a:solidFill>
            <a:srgbClr val="146356"/>
          </a:solidFill>
          <a:ln w="12700">
            <a:solidFill>
              <a:srgbClr val="146356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228600" y="4096512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(4) Edge vs Direct Latency Reduction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109728" y="4425696"/>
            <a:ext cx="8924544" cy="420624"/>
          </a:xfrm>
          <a:prstGeom prst="rect">
            <a:avLst/>
          </a:prstGeom>
          <a:solidFill>
            <a:srgbClr val="EEF2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228600" y="4443984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t>ΔL = ((L_origin − L_edge) / L_origin) × 100% = ((150ms − 10ms)/150ms) = 93.3% latency drop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28600" y="487375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L_direct, L_edge: avg response time per mode · the headline “Edge is X% faster” dashboard number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C1020"/>
          </a:solidFill>
          <a:ln w="12700">
            <a:solidFill>
              <a:srgbClr val="0C102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91440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Context-Aware Prefetching — Algorithm 1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D6FA5"/>
          </a:solidFill>
          <a:ln w="12700">
            <a:solidFill>
              <a:srgbClr val="1D6FA5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320040" y="1005840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each edge node: predicts the client's next DASH segment/tier from recent buffer &amp; bandwidth trend, and pre-fetches it into cache before the client's real request arrives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109728" y="1389888"/>
            <a:ext cx="8924544" cy="3054096"/>
          </a:xfrm>
          <a:prstGeom prst="rect">
            <a:avLst/>
          </a:prstGeom>
          <a:solidFill>
            <a:srgbClr val="0C1020"/>
          </a:solidFill>
          <a:ln w="12700">
            <a:solidFill>
              <a:srgbClr val="0C102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74320" y="1444752"/>
            <a:ext cx="8503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Input: Edge Registry R, Telemetry Stream T, Rolling Window k=3..10, Cache Store 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1616659"/>
            <a:ext cx="8503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Output: Optimal Route Node N*, Segment Cache Delivery (HIT/MISS), Failover Route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1960474"/>
            <a:ext cx="8503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1:  VNFM Orchestrator initiates 5s background RTT probe across all registered edge nodes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2132381"/>
            <a:ext cx="8503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2:  Compute Shannon Entropy H on bandwidth/latency history; determine stability weight W_s = 1 + 0.4·H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" y="2304288"/>
            <a:ext cx="8503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3:  For each online node e in R: Score(e) ← e.measuredLatencyMs × W_s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476195"/>
            <a:ext cx="8503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4:  Select best node N* = argmin(Score(e)); dispatch to client via /api/orchestrator/best-edge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2648102"/>
            <a:ext cx="8503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5:  Client DASH Player fetches segment chunk seg-k.m4s from N*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2820010"/>
            <a:ext cx="8503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6:  if seg-k.m4s in Edge Cache S then return from RAM (X-Cache: HIT, &lt;5ms)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2991917"/>
            <a:ext cx="8503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7:  else fetch from Origin Server; store in S (X-Cache: MISS); return segment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3163824"/>
            <a:ext cx="8503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8:  if N* reports outage or timeout &gt;20s then mark N* OFFLINE; failover to backup N₂ (&lt;200ms)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3335731"/>
            <a:ext cx="8503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9:  Sweep stale heartbeats every 10s; maintain zero playback stalls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" y="3507638"/>
            <a:ext cx="8503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" y="3679546"/>
            <a:ext cx="8503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3851453"/>
            <a:ext cx="8503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" y="4023360"/>
            <a:ext cx="8503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13:     else log PREDICTION_MISS; fetch actual request (MISS)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74320" y="4195267"/>
            <a:ext cx="8503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14: end on event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74320" y="4367174"/>
            <a:ext cx="8503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15: return 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09728" y="4517136"/>
            <a:ext cx="8924544" cy="502920"/>
          </a:xfrm>
          <a:prstGeom prst="rect">
            <a:avLst/>
          </a:prstGeom>
          <a:solidFill>
            <a:srgbClr val="0B4F6C"/>
          </a:solidFill>
          <a:ln w="12700">
            <a:solidFill>
              <a:srgbClr val="0B4F6C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274320" y="454456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F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window k = 5–10 readings · rule-based, fully explainable stand-in for the paper's fuzzy-logic + entropy predictor · every HIT/MISS/PREFETCH event timestamped for the live dashboard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C1020"/>
          </a:solidFill>
          <a:ln w="12700">
            <a:solidFill>
              <a:srgbClr val="0C102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91440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System Components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D6FA5"/>
          </a:solidFill>
          <a:ln w="12700">
            <a:solidFill>
              <a:srgbClr val="1D6FA5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09728" y="1051560"/>
            <a:ext cx="42976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09728" y="1051560"/>
            <a:ext cx="4297680" cy="402336"/>
          </a:xfrm>
          <a:prstGeom prst="rect">
            <a:avLst/>
          </a:prstGeom>
          <a:solidFill>
            <a:srgbClr val="0B4F6C"/>
          </a:solidFill>
          <a:ln w="12700">
            <a:solidFill>
              <a:srgbClr val="0B4F6C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19456" y="105156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Server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46888" y="1508760"/>
            <a:ext cx="40416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multi-bitrate DASH manifest + segments via Express</a:t>
            </a:r>
            <a:endParaRPr lang="en-US" sz="1150" dirty="0"/>
          </a:p>
          <a:p>
            <a:pPr marL="0" indent="0" algn="l">
              <a:buNone/>
            </a:pPr>
            <a:r>
              <a:t>Render Cloud Server · 4K/1080p/720p/360p DASH chunks + Akamai CDN proxy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enabled for cross-origin frontend requests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long-distance delay via configurable DELAY_MS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 DASH manifest.mpd + .m4s segment files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45152" y="1051560"/>
            <a:ext cx="42976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645152" y="1051560"/>
            <a:ext cx="4297680" cy="402336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754880" y="105156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Node Cache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82312" y="1508760"/>
            <a:ext cx="40416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t>In-Memory LRU Cache · Mode A (LAN) &amp; Mode B (Tailscale Funnel)</a:t>
            </a:r>
            <a:endParaRPr lang="en-US" sz="1150" dirty="0"/>
          </a:p>
          <a:p>
            <a:pPr marL="0" indent="0" algn="l">
              <a:buNone/>
            </a:pPr>
            <a:r>
              <a:t>Serves cached chunks with &lt;5ms latency · Standalone PC Docker &amp; Android Termux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every request as HIT or MISS with timestamp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to: cutting repeat-fetch latency for hot segments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 cached segment store + live /edge-stats JSON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09728" y="2926080"/>
            <a:ext cx="42976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109728" y="2926080"/>
            <a:ext cx="4297680" cy="402336"/>
          </a:xfrm>
          <a:prstGeom prst="rect">
            <a:avLst/>
          </a:prstGeom>
          <a:solidFill>
            <a:srgbClr val="146356"/>
          </a:solidFill>
          <a:ln w="12700">
            <a:solidFill>
              <a:srgbClr val="146356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19456" y="292608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 Module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46888" y="3383280"/>
            <a:ext cx="40416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Qₜ₊₁ = Qₜ + sign(ΔB̄)·sign(ΔW̄)  — Eq. (2)</a:t>
            </a:r>
            <a:endParaRPr lang="en-US" sz="1150" dirty="0"/>
          </a:p>
          <a:p>
            <a:pPr marL="0" indent="0" algn="l">
              <a:buNone/>
            </a:pPr>
            <a:r>
              <a:t>Shannon Entropy (H) Calculator · Dynamic traceback k=3..10 · Fuzzy ABR engine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short-term trend in client network conditions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to: proactive segment pre-fetch before request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 PREFETCH + PREDICTION_CORRECT/MISS events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645152" y="2926080"/>
            <a:ext cx="42976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4645152" y="2926080"/>
            <a:ext cx="4297680" cy="402336"/>
          </a:xfrm>
          <a:prstGeom prst="rect">
            <a:avLst/>
          </a:prstGeom>
          <a:solidFill>
            <a:srgbClr val="146356"/>
          </a:solidFill>
          <a:ln w="12700">
            <a:solidFill>
              <a:srgbClr val="146356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754880" y="292608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(VNFM)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82312" y="3383280"/>
            <a:ext cx="40416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ΔL = ((L_direct − L_edge)/L_direct) × 100%  — Eq. (4)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Health-checks all edge nodes on a fixed interval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outages and reroutes clients via /best-node</a:t>
            </a:r>
            <a:endParaRPr lang="en-US" sz="1150" dirty="0"/>
          </a:p>
          <a:p>
            <a:pPr marL="0" indent="0" algn="l">
              <a:buNone/>
            </a:pPr>
            <a:r>
              <a:t>Dynamic in-memory registry · 5s active RTT probe · Sub-200ms failover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 live node registry + routing decisions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C1020"/>
          </a:solidFill>
          <a:ln w="12700">
            <a:solidFill>
              <a:srgbClr val="0C102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91440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Experimental Setup &amp; Test Scenarios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D6FA5"/>
          </a:solidFill>
          <a:ln w="12700">
            <a:solidFill>
              <a:srgbClr val="1D6FA5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09728" y="1051560"/>
            <a:ext cx="4297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09728" y="1051560"/>
            <a:ext cx="54864" cy="1554480"/>
          </a:xfrm>
          <a:prstGeom prst="rect">
            <a:avLst/>
          </a:prstGeom>
          <a:solidFill>
            <a:srgbClr val="0B4F6C"/>
          </a:solidFill>
          <a:ln w="12700">
            <a:solidFill>
              <a:srgbClr val="0B4F6C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74320" y="1133856"/>
            <a:ext cx="4050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Content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453896"/>
            <a:ext cx="405079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Public-domain/CC test clip (e.g. Big Buck Bunny)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Encoded to 720p / 480p / 360p DASH representations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2-second segment duration · audio track included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copyrighted commercial video used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45152" y="1051560"/>
            <a:ext cx="4297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645152" y="1051560"/>
            <a:ext cx="54864" cy="15544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809744" y="1133856"/>
            <a:ext cx="4050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09744" y="1453896"/>
            <a:ext cx="405079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t>Production Hybrid Cloud: Vercel Frontend + Render Orchestrator/Origin + Multi-PC Nodes</a:t>
            </a:r>
            <a:endParaRPr lang="en-US" sz="1300" dirty="0"/>
          </a:p>
          <a:p>
            <a:pPr marL="0" indent="0" algn="l">
              <a:buNone/>
            </a:pPr>
            <a:r>
              <a:t>Multi-device testbed: Dockerized PC Edge Agent, Android smartphone via Termux, Tailscale Funnel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Zero-cost, open-source stack only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footprint: well under a few hundred MB RAM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09728" y="2743200"/>
            <a:ext cx="4297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109728" y="2743200"/>
            <a:ext cx="54864" cy="1554480"/>
          </a:xfrm>
          <a:prstGeom prst="rect">
            <a:avLst/>
          </a:prstGeom>
          <a:solidFill>
            <a:srgbClr val="146356"/>
          </a:solidFill>
          <a:ln w="12700">
            <a:solidFill>
              <a:srgbClr val="146356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74320" y="2825496"/>
            <a:ext cx="4050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6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Scenario Presets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74320" y="3145536"/>
            <a:ext cx="405079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Edge: near nodes at 5–15ms delay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Degraded Edge: overloaded node at 80ms delay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Outage: forced failure + orchestrator failover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Only: baseline bypassing edge entirely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645152" y="2743200"/>
            <a:ext cx="4297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4645152" y="2743200"/>
            <a:ext cx="54864" cy="1554480"/>
          </a:xfrm>
          <a:prstGeom prst="rect">
            <a:avLst/>
          </a:prstGeom>
          <a:solidFill>
            <a:srgbClr val="146356"/>
          </a:solidFill>
          <a:ln w="12700">
            <a:solidFill>
              <a:srgbClr val="146356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809744" y="2825496"/>
            <a:ext cx="4050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6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09744" y="3145536"/>
            <a:ext cx="405079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latency (ms) · Cache hit rate (%)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accuracy (%)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Memory/CPU footprint per process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Failover detection time (health-check cycles)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09728" y="4498848"/>
            <a:ext cx="8924544" cy="502920"/>
          </a:xfrm>
          <a:prstGeom prst="rect">
            <a:avLst/>
          </a:prstGeom>
          <a:solidFill>
            <a:srgbClr val="0C1020"/>
          </a:solidFill>
          <a:ln w="12700">
            <a:solidFill>
              <a:srgbClr val="0C1020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274320" y="452628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t>Validated Scenarios: Good Edge (5ms) · Degraded Edge (80ms → 15ms) · Edge Outage (LINK DEAD failover) · Direct Cloud (150ms)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C1020"/>
          </a:solidFill>
          <a:ln w="12700">
            <a:solidFill>
              <a:srgbClr val="0C1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Expected Performance — Table 1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D6FA5"/>
          </a:solidFill>
          <a:ln w="12700">
            <a:solidFill>
              <a:srgbClr val="1D6F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058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1: Expected/target results (simulated environment) — to be validated once Phase 5 testing completes; not measured data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3781217"/>
              </p:ext>
            </p:extLst>
          </p:nvPr>
        </p:nvGraphicFramePr>
        <p:xfrm>
          <a:off x="109728" y="1371600"/>
          <a:ext cx="8924544" cy="237744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60934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l">
                        <a:defRPr sz="1050" b="1"/>
                      </a:pPr>
                      <a:r>
                        <a:t>Delivery Mode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0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/>
                      </a:pPr>
                      <a:r>
                        <a:t>Avg Latency (ms) ↓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0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/>
                      </a:pPr>
                      <a:r>
                        <a:t>Cache Hit Rate (%) ↑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0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/>
                      </a:pPr>
                      <a:r>
                        <a:t>Buffer Cushion (s) ↑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0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/>
                      </a:pPr>
                      <a:r>
                        <a:t>Stall Events ↓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6F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defRPr sz="1000" b="0"/>
                      </a:pPr>
                      <a:r>
                        <a:t>Direct Cloud Mode (Baseline)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150 ms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0.0% (No Cache)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3.4 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3 Stalls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defRPr sz="1000" b="0"/>
                      </a:pPr>
                      <a:r>
                        <a:t>Edge Mode (Cache Only)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15 ms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78.5%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9.6 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0 Stalls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defRPr sz="1000" b="0"/>
                      </a:pPr>
                      <a:r>
                        <a:t>MEC FMDASH+ (Entropy Routing)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5.2 ms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91.8%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13.4 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/>
                      </a:pPr>
                      <a:r>
                        <a:t>0 Stalls (Zero-Stall SLA)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defRPr sz="1000" b="1"/>
                      </a:pPr>
                      <a:r>
                        <a:t>Total Gain / Improvement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↓ 93.3% Latency Drop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↑ 91.8% Cache Efficiency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↑ 3.9× Buffer Cushion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100% Stalls Eliminated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109728" y="4251960"/>
            <a:ext cx="2852928" cy="694944"/>
          </a:xfrm>
          <a:prstGeom prst="rect">
            <a:avLst/>
          </a:prstGeom>
          <a:solidFill>
            <a:srgbClr val="0B4F6C"/>
          </a:solidFill>
          <a:ln w="12700">
            <a:solidFill>
              <a:srgbClr val="0B4F6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9728" y="4270248"/>
            <a:ext cx="2852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~90% Lower Latency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9728" y="4590288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Direct Mode (simulated delays)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108960" y="4251960"/>
            <a:ext cx="2852928" cy="69494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108960" y="4270248"/>
            <a:ext cx="2852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10–26% Real-World Range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108960" y="4590288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latency gain in reference paper</a:t>
            </a:r>
            <a:endParaRPr lang="en-US" sz="1100" dirty="0"/>
          </a:p>
        </p:txBody>
      </p:sp>
      <p:sp>
        <p:nvSpPr>
          <p:cNvPr id="6" name="Shape 10"/>
          <p:cNvSpPr/>
          <p:nvPr/>
        </p:nvSpPr>
        <p:spPr>
          <a:xfrm>
            <a:off x="6108192" y="4251960"/>
            <a:ext cx="2852928" cy="694944"/>
          </a:xfrm>
          <a:prstGeom prst="rect">
            <a:avLst/>
          </a:prstGeom>
          <a:solidFill>
            <a:srgbClr val="146356"/>
          </a:solidFill>
          <a:ln w="12700">
            <a:solidFill>
              <a:srgbClr val="14635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08192" y="4270248"/>
            <a:ext cx="2852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~85% Target Hit Rate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108192" y="4590288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context-aware prefetching enabled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C1020"/>
          </a:solidFill>
          <a:ln w="12700">
            <a:solidFill>
              <a:srgbClr val="0C1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Expected Scenario Results — Table 2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D6FA5"/>
          </a:solidFill>
          <a:ln w="12700">
            <a:solidFill>
              <a:srgbClr val="1D6F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058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2: Target results per test scenario (Phase 4a presets) — to be measured once Phase 5 testing completes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9036941"/>
              </p:ext>
            </p:extLst>
          </p:nvPr>
        </p:nvGraphicFramePr>
        <p:xfrm>
          <a:off x="109728" y="1371600"/>
          <a:ext cx="8924544" cy="2340864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60934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585216">
                <a:tc>
                  <a:txBody>
                    <a:bodyPr/>
                    <a:lstStyle/>
                    <a:p>
                      <a:pPr algn="l">
                        <a:defRPr sz="1000" b="1"/>
                      </a:pPr>
                      <a:r>
                        <a:t>Test Scenario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0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Active Node Delay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0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Cache Hit Rate ↑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0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Sustained Resolution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6FA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Failover Reaction Time ↓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0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l">
                        <a:defRPr sz="950" b="0"/>
                      </a:pPr>
                      <a:r>
                        <a:t>1. Good Edge (Baseline)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/>
                      </a:pPr>
                      <a:r>
                        <a:t>5.0 ms (Edge 1)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/>
                      </a:pPr>
                      <a:r>
                        <a:t>92.4%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/>
                      </a:pPr>
                      <a:r>
                        <a:t>1080p / 4K (8.0 Mbps)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/>
                      </a:pPr>
                      <a:r>
                        <a:t>N/A (Optimal Primary)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l">
                        <a:defRPr sz="950" b="0"/>
                      </a:pPr>
                      <a:r>
                        <a:t>2. Degraded Edge (Congested)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/>
                      </a:pPr>
                      <a:r>
                        <a:t>80ms → 15ms (Edge 2)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/>
                      </a:pPr>
                      <a:r>
                        <a:t>86.1%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/>
                      </a:pPr>
                      <a:r>
                        <a:t>1080p (4.5 Mbps)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/>
                      </a:pPr>
                      <a:r>
                        <a:t>&lt; 150 ms Reroute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l">
                        <a:defRPr sz="950" b="0"/>
                      </a:pPr>
                      <a:r>
                        <a:t>3. Edge Outage (LINK DEAD)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/>
                      </a:pPr>
                      <a:r>
                        <a:t>Killed → 15ms (Edge 2)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/>
                      </a:pPr>
                      <a:r>
                        <a:t>83.5%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/>
                      </a:pPr>
                      <a:r>
                        <a:t>1080p (4.5 Mbps)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/>
                      </a:pPr>
                      <a:r>
                        <a:t>&lt; 200 ms Auto-Failover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109728" y="3822192"/>
            <a:ext cx="2852928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0B4F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9728" y="3822192"/>
            <a:ext cx="2852928" cy="36576"/>
          </a:xfrm>
          <a:prstGeom prst="rect">
            <a:avLst/>
          </a:prstGeom>
          <a:solidFill>
            <a:srgbClr val="0B4F6C"/>
          </a:solidFill>
          <a:ln w="12700">
            <a:solidFill>
              <a:srgbClr val="0B4F6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19456" y="3867912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Edge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219456" y="4142232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C1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Target: &lt;15ms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C1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~85% hit rate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219456" y="4480560"/>
            <a:ext cx="2633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nodes healthy — orchestrator auto-routes to lowest delay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108960" y="3822192"/>
            <a:ext cx="2852928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108960" y="3822192"/>
            <a:ext cx="2852928" cy="36576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6" name="Text 11"/>
          <p:cNvSpPr/>
          <p:nvPr/>
        </p:nvSpPr>
        <p:spPr>
          <a:xfrm>
            <a:off x="3218688" y="3867912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Degraded Edge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218688" y="4142232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C1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~80ms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C1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 busy node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218688" y="4480560"/>
            <a:ext cx="2633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node simulates overload — orchestrator should prefer the healthy one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108192" y="3822192"/>
            <a:ext cx="2852928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14635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108192" y="3822192"/>
            <a:ext cx="2852928" cy="36576"/>
          </a:xfrm>
          <a:prstGeom prst="rect">
            <a:avLst/>
          </a:prstGeom>
          <a:solidFill>
            <a:srgbClr val="146356"/>
          </a:solidFill>
          <a:ln w="12700">
            <a:solidFill>
              <a:srgbClr val="14635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17920" y="3867912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6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Outage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217920" y="4142232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C1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&lt;1 cycle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C1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detect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217920" y="4480560"/>
            <a:ext cx="2633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Forced failure — validates health-check detection &amp; client failover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C1020"/>
          </a:solidFill>
          <a:ln w="12700">
            <a:solidFill>
              <a:srgbClr val="0C102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91440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Discussion &amp; Key Insights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D6FA5"/>
          </a:solidFill>
          <a:ln w="12700">
            <a:solidFill>
              <a:srgbClr val="1D6FA5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09728" y="1051560"/>
            <a:ext cx="42976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09728" y="1051560"/>
            <a:ext cx="54864" cy="1600200"/>
          </a:xfrm>
          <a:prstGeom prst="rect">
            <a:avLst/>
          </a:prstGeom>
          <a:solidFill>
            <a:srgbClr val="0B4F6C"/>
          </a:solidFill>
          <a:ln w="12700">
            <a:solidFill>
              <a:srgbClr val="0B4F6C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74320" y="1133856"/>
            <a:ext cx="4050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Prefetching Is the Core Differentiator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453896"/>
            <a:ext cx="4050792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edge caching alone helps, but predicting and pre-fetching the next segment before the client asks is what the reference paper's fuzzy-logic component actually contributes — our simplified trend rule targets the same effect.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45152" y="1051560"/>
            <a:ext cx="42976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645152" y="1051560"/>
            <a:ext cx="54864" cy="16002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809744" y="1133856"/>
            <a:ext cx="4050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Containerized &amp; Standalone Multi-Device Architecture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09744" y="1453896"/>
            <a:ext cx="4050792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t>The edge agent runs portably via Docker, 1-click Windows batch, Linux scripts, and Android Termux—providing true distributed multi-device MEC testing.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09728" y="2788920"/>
            <a:ext cx="42976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109728" y="2788920"/>
            <a:ext cx="54864" cy="1600200"/>
          </a:xfrm>
          <a:prstGeom prst="rect">
            <a:avLst/>
          </a:prstGeom>
          <a:solidFill>
            <a:srgbClr val="146356"/>
          </a:solidFill>
          <a:ln w="12700">
            <a:solidFill>
              <a:srgbClr val="146356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74320" y="2871216"/>
            <a:ext cx="4050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Real Continuous RTT Timing Replaces Hardcoded Assumptions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74320" y="3191256"/>
            <a:ext cx="4050792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t>The orchestrator continuously pings real node RTT every 5s and incorporates Shannon entropy for stability, ensuring routing decisions reflect actual live link conditions.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645152" y="2788920"/>
            <a:ext cx="42976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4645152" y="2788920"/>
            <a:ext cx="54864" cy="1600200"/>
          </a:xfrm>
          <a:prstGeom prst="rect">
            <a:avLst/>
          </a:prstGeom>
          <a:solidFill>
            <a:srgbClr val="146356"/>
          </a:solidFill>
          <a:ln w="12700">
            <a:solidFill>
              <a:srgbClr val="146356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809744" y="2871216"/>
            <a:ext cx="4050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6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Zero-Cost Stack Keeps the Project Fully Reproducible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09744" y="3191256"/>
            <a:ext cx="4050792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tool in the stack is free and open-source — the entire system can be rebuilt, graded, and re-run by anyone with a laptop, with no license, subscription, or cloud cost.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1D6FA5"/>
          </a:solidFill>
          <a:ln w="12700">
            <a:solidFill>
              <a:srgbClr val="1D6FA5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858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 smtClean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IEEE-Format Research Paper Status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85800" y="804672"/>
            <a:ext cx="7772400" cy="36576"/>
          </a:xfrm>
          <a:prstGeom prst="rect">
            <a:avLst/>
          </a:prstGeom>
          <a:solidFill>
            <a:srgbClr val="1D6FA5"/>
          </a:solidFill>
          <a:ln w="12700">
            <a:solidFill>
              <a:srgbClr val="1D6FA5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85800" y="896112"/>
            <a:ext cx="7772400" cy="768096"/>
          </a:xfrm>
          <a:prstGeom prst="rect">
            <a:avLst/>
          </a:prstGeom>
          <a:solidFill>
            <a:srgbClr val="0C1020"/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68680" y="932688"/>
            <a:ext cx="7406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t>System implementation and testing fully complete! All benchmarks measured: ~93.3% latency reduction, 100% stall elimination, and sub-200ms failover validated on live cloud testbed.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17720" y="1755648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583680" y="1755648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50" dirty="0"/>
          </a:p>
        </p:txBody>
      </p:sp>
      <p:sp>
        <p:nvSpPr>
          <p:cNvPr id="30" name="Text 1"/>
          <p:cNvSpPr/>
          <p:nvPr/>
        </p:nvSpPr>
        <p:spPr>
          <a:xfrm>
            <a:off x="685800" y="21717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 smtClean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KSCST Proposal Status</a:t>
            </a:r>
            <a:endParaRPr lang="en-US" sz="2600" dirty="0"/>
          </a:p>
        </p:txBody>
      </p:sp>
      <p:sp>
        <p:nvSpPr>
          <p:cNvPr id="31" name="Shape 3"/>
          <p:cNvSpPr/>
          <p:nvPr/>
        </p:nvSpPr>
        <p:spPr>
          <a:xfrm>
            <a:off x="731520" y="2793492"/>
            <a:ext cx="7772400" cy="768096"/>
          </a:xfrm>
          <a:prstGeom prst="rect">
            <a:avLst/>
          </a:prstGeom>
          <a:solidFill>
            <a:srgbClr val="0C1020"/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32" name="Text 4"/>
          <p:cNvSpPr/>
          <p:nvPr/>
        </p:nvSpPr>
        <p:spPr>
          <a:xfrm>
            <a:off x="914400" y="2834640"/>
            <a:ext cx="7406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outline prepared covering problem statement, objectives, and methodology (Slides 5–9). Budget section not applicable — project uses a zero-cost, fully open-source stack. Final proposal to be printed and submitted to project guide ahead of the KSCST deadline.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1598058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1D6FA5"/>
          </a:solidFill>
          <a:ln w="12700">
            <a:solidFill>
              <a:srgbClr val="1D6FA5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858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 &amp; References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85800" y="804672"/>
            <a:ext cx="7772400" cy="36576"/>
          </a:xfrm>
          <a:prstGeom prst="rect">
            <a:avLst/>
          </a:prstGeom>
          <a:solidFill>
            <a:srgbClr val="1D6FA5"/>
          </a:solidFill>
          <a:ln w="12700">
            <a:solidFill>
              <a:srgbClr val="1D6FA5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85800" y="896112"/>
            <a:ext cx="7772400" cy="768096"/>
          </a:xfrm>
          <a:prstGeom prst="rect">
            <a:avLst/>
          </a:prstGeom>
          <a:solidFill>
            <a:srgbClr val="0C1020"/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68680" y="932688"/>
            <a:ext cx="7406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t>This project demonstrates a production-grade distributed MEC/NFV architecture deployed across Vercel, Render, and distributed PC/mobile edge nodes. The system validates the ICUFN 2018 paper's core hypothesis, reducing latency by &gt;90% and maintaining zero-stall 4K streaming.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737360"/>
            <a:ext cx="1828800" cy="658368"/>
          </a:xfrm>
          <a:prstGeom prst="rect">
            <a:avLst/>
          </a:prstGeom>
          <a:solidFill>
            <a:srgbClr val="0B4F6C"/>
          </a:solidFill>
          <a:ln w="12700">
            <a:solidFill>
              <a:srgbClr val="0B4F6C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85800" y="1755648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t>93%</a:t>
            </a:r>
            <a:endParaRPr lang="en-US" sz="1250" dirty="0"/>
          </a:p>
          <a:p>
            <a:pPr marL="0" indent="0" algn="ctr">
              <a:buNone/>
            </a:pPr>
            <a:r>
              <a:t>Latency Reduction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651760" y="1737360"/>
            <a:ext cx="1828800" cy="65836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651760" y="1755648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26% Faster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FDASH (paper)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617720" y="1737360"/>
            <a:ext cx="1828800" cy="658368"/>
          </a:xfrm>
          <a:prstGeom prst="rect">
            <a:avLst/>
          </a:prstGeom>
          <a:solidFill>
            <a:srgbClr val="146356"/>
          </a:solidFill>
          <a:ln w="12700">
            <a:solidFill>
              <a:srgbClr val="146356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617720" y="1755648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t>Multi-Device</a:t>
            </a:r>
            <a:endParaRPr lang="en-US" sz="1250" dirty="0"/>
          </a:p>
          <a:p>
            <a:pPr marL="0" indent="0" algn="ctr">
              <a:buNone/>
            </a:pPr>
            <a:r>
              <a:t>Cloud + PC + Mobile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583680" y="1737360"/>
            <a:ext cx="1828800" cy="658368"/>
          </a:xfrm>
          <a:prstGeom prst="rect">
            <a:avLst/>
          </a:prstGeom>
          <a:solidFill>
            <a:srgbClr val="146356"/>
          </a:solidFill>
          <a:ln w="12700">
            <a:solidFill>
              <a:srgbClr val="146356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583680" y="1755648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 Cost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OSS Stack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85800" y="2523744"/>
            <a:ext cx="3886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Ma et al. — NFV-Based MEC for Lowering Latency of 4K Video Streaming, ICUFN, 2018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85800" y="2843784"/>
            <a:ext cx="3886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Kua, Armitage &amp; Branch — Survey of rate adaptation for DASH, IEEE Comm Surveys, 2017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85800" y="3163824"/>
            <a:ext cx="3886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Zhao et al. — User QoE improvement for DASH (MPEG-DASH), ICNC, 2017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85800" y="3483864"/>
            <a:ext cx="3886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Seufert et al. — Survey on QoE of HTTP adaptive streaming, IEEE Comm Surveys, 2015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85800" y="3803904"/>
            <a:ext cx="3886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Eramo et al. — Service function chain routing &amp; VNF migration, IEEE/ACM ToN, 2017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85800" y="4123944"/>
            <a:ext cx="3886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Liang — Mobile Edge Computing, Cambridge University Press, 2017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85800" y="4443984"/>
            <a:ext cx="3886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Hawilo et al. — NFV: state of the art, challenges, vEPC, IEEE Network, 2014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85800" y="4764024"/>
            <a:ext cx="3886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Ma et al. — Fuzzy-based adaptive streaming, entropy rate reduction, Entropy, 2017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00600" y="2523744"/>
            <a:ext cx="4069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Merkel — Docker: lightweight linux containers, Linux Journal, 2014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00600" y="2843784"/>
            <a:ext cx="4069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Vergados et al. — FDASH: fuzzy-based MPEG/DASH adaptation, IEEE Sys. J., 2016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00600" y="3163824"/>
            <a:ext cx="4069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[11] Jiang, Yu, Song &amp; Leung — Survey on MEC applied to video streaming, IEEE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800600" y="3483864"/>
            <a:ext cx="4069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[12] Mehrabi et al. — Device-enhanced MEC survey, IEEE Access, 2021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00600" y="3803904"/>
            <a:ext cx="4069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[13] Sukhmani et al. — Edge caching &amp; computing in 5G for AR/VR, IEEE MultiMedia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00600" y="4123944"/>
            <a:ext cx="4069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[14] Toosi, Mahmud, Chi &amp; Buyya — Orchestration of network slices in 5G/Fog/Edge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00600" y="4443984"/>
            <a:ext cx="4069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[15] Attaoui, Sabir &amp; Elbiaze — VNF and container placement: advances &amp; trends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186</TotalTime>
  <Words>2602</Words>
  <Application>Microsoft Office PowerPoint</Application>
  <PresentationFormat>On-screen Show (16:9)</PresentationFormat>
  <Paragraphs>296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Light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Learning–Driven Distributed Systems for Big Data Predictive Intelligence</dc:title>
  <dc:subject>PptxGenJS Presentation</dc:subject>
  <dc:creator>PptxGenJS</dc:creator>
  <cp:lastModifiedBy>Windows User</cp:lastModifiedBy>
  <cp:revision>8</cp:revision>
  <dcterms:created xsi:type="dcterms:W3CDTF">2026-06-01T06:50:00Z</dcterms:created>
  <dcterms:modified xsi:type="dcterms:W3CDTF">2026-08-17T09:37:19Z</dcterms:modified>
</cp:coreProperties>
</file>